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6.svg" ContentType="image/svg"/>
  <Override PartName="/ppt/media/image17.svg" ContentType="image/svg"/>
  <Override PartName="/ppt/media/image19.svg" ContentType="image/svg"/>
  <Override PartName="/ppt/media/image15.svg" ContentType="image/svg"/>
  <Override PartName="/ppt/media/image23.svg" ContentType="image/svg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  <p:embeddedFontLst>
    <p:embeddedFont>
      <p:font typeface="Calibri Light"/>
    </p:embeddedFont>
    <p:embeddedFont>
      <p:font typeface="Roboto"/>
      <p:regular r:id="rId25"/>
    </p:embeddedFont>
    <p:embeddedFont>
      <p:font typeface="Roboto Slab"/>
      <p:regular r:id="rId26"/>
    </p:embeddedFont>
    <p:embeddedFont>
      <p:font typeface="Roboto Slab Light"/>
    </p:embeddedFont>
    <p:embeddedFont>
      <p:font typeface="+mn-lt"/>
    </p:embeddedFont>
    <p:embeddedFont>
      <p:font typeface="Roboto Bold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font" Target="fonts/Font_1_Roboto_Regular.fntdata"/><Relationship Id="rId26" Type="http://schemas.openxmlformats.org/officeDocument/2006/relationships/font" Target="fonts/Font_2_Roboto_Slab_Regular.fntdata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692126-71FB-4977-B8CC-32AF74431E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CB76C-6F01-44CB-AC7A-603173B4BC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4E2BE2-6D7A-46F4-BE6D-0F3814879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F92E5-E60F-4C0F-8F9B-D03BAFBBE9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0900F7-9AEF-43AA-A2A4-C857071761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E21C28-F3DE-4886-A13E-63D8AA902A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523880"/>
            <a:ext cx="5486040" cy="41144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7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12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648DB0-000B-4632-84AF-0324D05036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1FC3C6-854D-49BB-BFAA-3B7C0E68D6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FA8E39-B1EF-4863-9AE6-AEFD22005D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AD66A0-15E8-42AF-BC4E-074356FE4F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99297-36D3-476A-9A6B-1207EBC4C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C84EE0-C9DA-4DEC-94F1-3FDFD75A77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EAA33-FA93-4094-9D09-B179E83E43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B3E65-BD3C-45C3-BC52-D3802ED8AA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4157B3-7F6D-4836-A424-C76FA6B11D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AC0859-BEF5-4561-8F1C-9A2E3B0F10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1B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27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FFF88-7018-4150-9946-C6E1366ACF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7720" y="182556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1"/>
          </p:nvPr>
        </p:nvSpPr>
        <p:spPr>
          <a:xfrm>
            <a:off x="8377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2"/>
          </p:nvPr>
        </p:nvSpPr>
        <p:spPr>
          <a:xfrm>
            <a:off x="40381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3"/>
          </p:nvPr>
        </p:nvSpPr>
        <p:spPr>
          <a:xfrm>
            <a:off x="86101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C2E879-7DFA-4A8A-AC7C-0C29DAE9A2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0"/>
          <p:cNvSpPr/>
          <p:nvPr/>
        </p:nvSpPr>
        <p:spPr>
          <a:xfrm>
            <a:off x="5233320" y="2840760"/>
            <a:ext cx="6296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DS461: Big Data Analytics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233320" y="3714840"/>
            <a:ext cx="69062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Fall 2026 — GIKI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31 Aug 2026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0"/>
          <p:cNvSpPr/>
          <p:nvPr/>
        </p:nvSpPr>
        <p:spPr>
          <a:xfrm>
            <a:off x="661320" y="769680"/>
            <a:ext cx="629640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T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h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e 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B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i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g 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Q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u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st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io</a:t>
            </a: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61320" y="1554840"/>
            <a:ext cx="6296400" cy="37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4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How do we make data mining and </a:t>
            </a:r>
            <a:r>
              <a:rPr lang="en-US" sz="4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machine learning work when data no </a:t>
            </a:r>
            <a:r>
              <a:rPr lang="en-US" sz="4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longer fits on one computer?</a:t>
            </a:r>
            <a:endParaRPr lang="en-US" sz="4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661320" y="5552640"/>
            <a:ext cx="629640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This course answers that question through theory, algorithms, hands-on implementation, and real research.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1"/>
          <a:stretch/>
        </p:blipFill>
        <p:spPr>
          <a:xfrm>
            <a:off x="661320" y="717480"/>
            <a:ext cx="6913080" cy="39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0"/>
          <p:cNvSpPr/>
          <p:nvPr/>
        </p:nvSpPr>
        <p:spPr>
          <a:xfrm>
            <a:off x="8013240" y="1635840"/>
            <a:ext cx="3522600" cy="11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45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Why Big Data Matters Now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8013240" y="2909520"/>
            <a:ext cx="352260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ML and deep learning have achieved remarkable results — but success hinges on two things: </a:t>
            </a:r>
            <a:r>
              <a:rPr lang="en-US" sz="1350" b="1" u="none" strike="noStrike">
                <a:solidFill>
                  <a:srgbClr val="D6E5EF"/>
                </a:solidFill>
                <a:effectLst/>
                <a:uFillTx/>
                <a:latin typeface="Roboto Bold"/>
                <a:ea typeface="Roboto Bold"/>
              </a:rPr>
              <a:t>big data</a:t>
            </a: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 and </a:t>
            </a:r>
            <a:r>
              <a:rPr lang="en-US" sz="1350" b="1" u="none" strike="noStrike">
                <a:solidFill>
                  <a:srgbClr val="D6E5EF"/>
                </a:solidFill>
                <a:effectLst/>
                <a:uFillTx/>
                <a:latin typeface="Roboto Bold"/>
                <a:ea typeface="Roboto Bold"/>
              </a:rPr>
              <a:t>compute</a:t>
            </a: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61320" y="5009040"/>
            <a:ext cx="5351040" cy="13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2"/>
          <p:cNvSpPr/>
          <p:nvPr/>
        </p:nvSpPr>
        <p:spPr>
          <a:xfrm>
            <a:off x="933840" y="5205240"/>
            <a:ext cx="488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Scale Changed Everything - Compute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933840" y="5581800"/>
            <a:ext cx="48823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The algorithms aren't new — what changed is the infrastructure to run them at planetary scale.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179040" y="5009040"/>
            <a:ext cx="5351040" cy="13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4"/>
          <p:cNvSpPr/>
          <p:nvPr/>
        </p:nvSpPr>
        <p:spPr>
          <a:xfrm>
            <a:off x="6451200" y="5205240"/>
            <a:ext cx="488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More Data = Smarter Models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451200" y="5581800"/>
            <a:ext cx="48823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9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More data combined with more compute unlocks increasingly capable models and predictions.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/>
          <p:nvPr/>
        </p:nvPicPr>
        <p:blipFill>
          <a:blip r:embed="rId1"/>
          <a:stretch/>
        </p:blipFill>
        <p:spPr>
          <a:xfrm rot="21589800">
            <a:off x="0" y="0"/>
            <a:ext cx="12115800" cy="6808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595800" y="457200"/>
            <a:ext cx="10834200" cy="60685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1072800" y="590400"/>
            <a:ext cx="10188360" cy="57301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1149120" y="609480"/>
            <a:ext cx="10035720" cy="56919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2006280" y="613440"/>
            <a:ext cx="8321400" cy="56844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1610280" y="228600"/>
            <a:ext cx="9113760" cy="64540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18800" y="-157680"/>
            <a:ext cx="122144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Distributed Systems, Scalability,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and Designing for Failure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46" name="Picture 13"/>
          <p:cNvPicPr/>
          <p:nvPr/>
        </p:nvPicPr>
        <p:blipFill>
          <a:blip r:embed="rId1"/>
          <a:stretch/>
        </p:blipFill>
        <p:spPr>
          <a:xfrm>
            <a:off x="1997280" y="841680"/>
            <a:ext cx="7067520" cy="39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Rectangle 15"/>
          <p:cNvSpPr/>
          <p:nvPr/>
        </p:nvSpPr>
        <p:spPr>
          <a:xfrm>
            <a:off x="2474640" y="1371600"/>
            <a:ext cx="2345400" cy="367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Rectangle 16"/>
          <p:cNvSpPr/>
          <p:nvPr/>
        </p:nvSpPr>
        <p:spPr>
          <a:xfrm>
            <a:off x="5770080" y="1340280"/>
            <a:ext cx="2786760" cy="627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" name="Rectangle 2"/>
          <p:cNvSpPr/>
          <p:nvPr/>
        </p:nvSpPr>
        <p:spPr>
          <a:xfrm>
            <a:off x="5757840" y="1340280"/>
            <a:ext cx="2679840" cy="7167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Rectangle 3"/>
          <p:cNvSpPr/>
          <p:nvPr/>
        </p:nvSpPr>
        <p:spPr>
          <a:xfrm>
            <a:off x="2449440" y="1340280"/>
            <a:ext cx="2679840" cy="417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005120" y="4858920"/>
            <a:ext cx="4764600" cy="17362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Vertical Scaling (Single Machine)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more CPU, memory, disk to one machine.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Has physical limits.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the machine fails → system goes down.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Low fault tolerance.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5770080" y="4858920"/>
            <a:ext cx="4764600" cy="173628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Horizontal Scaling (Distributed Systems)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more machines.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 is distributed across nodes.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Leader node assigns tasks to worker nodes.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one machine fails → others continue.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is replicated for redundancy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28"/>
          <p:cNvSpPr/>
          <p:nvPr/>
        </p:nvSpPr>
        <p:spPr>
          <a:xfrm>
            <a:off x="661320" y="209772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Course at a Glance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661320" y="3066480"/>
            <a:ext cx="3496680" cy="1693440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850320" y="3255480"/>
            <a:ext cx="31186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3 Credit Hours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850320" y="3664080"/>
            <a:ext cx="31186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15-week semester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4347360" y="3066480"/>
            <a:ext cx="3496680" cy="1693440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4536360" y="3255480"/>
            <a:ext cx="31186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Research-Oriented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2"/>
          <p:cNvSpPr/>
          <p:nvPr/>
        </p:nvSpPr>
        <p:spPr>
          <a:xfrm>
            <a:off x="4536360" y="3664080"/>
            <a:ext cx="311868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Theory meets hands-on implementation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8033400" y="3066480"/>
            <a:ext cx="3496680" cy="1693440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3"/>
          <p:cNvSpPr/>
          <p:nvPr/>
        </p:nvSpPr>
        <p:spPr>
          <a:xfrm>
            <a:off x="8222400" y="3255480"/>
            <a:ext cx="31186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Prerequisites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4"/>
          <p:cNvSpPr/>
          <p:nvPr/>
        </p:nvSpPr>
        <p:spPr>
          <a:xfrm>
            <a:off x="8222400" y="3664080"/>
            <a:ext cx="311868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Linear Algebra, Probability &amp; Statistics, Programming Fundamentals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61320" y="736560"/>
            <a:ext cx="3513240" cy="11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How to Reach Your Instructor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457200" y="3300480"/>
            <a:ext cx="411480" cy="41148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25960" y="3369240"/>
            <a:ext cx="27432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2"/>
          <p:cNvSpPr/>
          <p:nvPr/>
        </p:nvSpPr>
        <p:spPr>
          <a:xfrm>
            <a:off x="1046520" y="3363480"/>
            <a:ext cx="29239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Email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1046520" y="3826800"/>
            <a:ext cx="2923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farah.saeed@giki.edu.pk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3886200" y="3240720"/>
            <a:ext cx="411480" cy="41148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954960" y="3309480"/>
            <a:ext cx="27432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5"/>
          <p:cNvSpPr/>
          <p:nvPr/>
        </p:nvSpPr>
        <p:spPr>
          <a:xfrm>
            <a:off x="4475520" y="3303720"/>
            <a:ext cx="29239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Office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4475520" y="3767040"/>
            <a:ext cx="292392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S18, 2nd Floor, New Academic Block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8229600" y="3180600"/>
            <a:ext cx="411480" cy="41148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98360" y="3249000"/>
            <a:ext cx="27432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8"/>
          <p:cNvSpPr/>
          <p:nvPr/>
        </p:nvSpPr>
        <p:spPr>
          <a:xfrm>
            <a:off x="8818920" y="3243240"/>
            <a:ext cx="29239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f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f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i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c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 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H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u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r</a:t>
            </a:r>
            <a:r>
              <a:rPr lang="en-US" sz="18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8818920" y="3706920"/>
            <a:ext cx="292392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1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Tuesday &amp; Thursday, 10:00–11:00 AM — </a:t>
            </a:r>
            <a:r>
              <a:rPr lang="en-US" sz="140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or by appointment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661320" y="136044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Class Schedule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661320" y="2329200"/>
          <a:ext cx="10868400" cy="2186280"/>
        </p:xfrm>
        <a:graphic>
          <a:graphicData uri="http://schemas.openxmlformats.org/drawingml/2006/table">
            <a:tbl>
              <a:tblPr/>
              <a:tblGrid>
                <a:gridCol w="3622680"/>
                <a:gridCol w="3622680"/>
                <a:gridCol w="3622680"/>
              </a:tblGrid>
              <a:tr h="545040"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Day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565B64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Time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1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Room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565B64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</a:tr>
              <a:tr h="547920"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Monday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565B64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4:30–5:20 AM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LH9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565B64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</a:tr>
              <a:tr h="547920"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Tuesday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565B64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8:00–9:00 AM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LH9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565B64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</a:tr>
              <a:tr h="545040"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Thursday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565B64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12:30–1:20 PM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202733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 lIns="189000" tIns="6120" rIns="189000" bIns="6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50" b="0" u="none" strike="noStrike">
                          <a:solidFill>
                            <a:srgbClr val="D6E5EF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LH9</a:t>
                      </a:r>
                      <a:endParaRPr lang="en-US" sz="14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89000" marR="189000" marT="6120" marB="6120">
                    <a:lnL w="12240">
                      <a:solidFill>
                        <a:srgbClr val="202733"/>
                      </a:solidFill>
                      <a:prstDash val="solid"/>
                    </a:lnL>
                    <a:lnR w="12240">
                      <a:solidFill>
                        <a:srgbClr val="565B64"/>
                      </a:solidFill>
                      <a:prstDash val="solid"/>
                    </a:lnR>
                    <a:lnT w="12240">
                      <a:solidFill>
                        <a:srgbClr val="565B64"/>
                      </a:solidFill>
                      <a:prstDash val="solid"/>
                    </a:lnT>
                    <a:lnB w="12240">
                      <a:solidFill>
                        <a:srgbClr val="565B64"/>
                      </a:solidFill>
                      <a:prstDash val="solid"/>
                    </a:lnB>
                    <a:solidFill>
                      <a:srgbClr val="202733"/>
                    </a:solidFill>
                  </a:tcPr>
                </a:tc>
              </a:tr>
            </a:tbl>
          </a:graphicData>
        </a:graphic>
      </p:graphicFrame>
      <p:sp>
        <p:nvSpPr>
          <p:cNvPr id="78" name="Shape 1"/>
          <p:cNvSpPr/>
          <p:nvPr/>
        </p:nvSpPr>
        <p:spPr>
          <a:xfrm>
            <a:off x="661320" y="4741200"/>
            <a:ext cx="10868400" cy="755640"/>
          </a:xfrm>
          <a:prstGeom prst="roundRect">
            <a:avLst>
              <a:gd name="adj" fmla="val 3751"/>
            </a:avLst>
          </a:prstGeom>
          <a:solidFill>
            <a:srgbClr val="0D3E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850320" y="5009040"/>
            <a:ext cx="23580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2"/>
          <p:cNvSpPr/>
          <p:nvPr/>
        </p:nvSpPr>
        <p:spPr>
          <a:xfrm>
            <a:off x="1275840" y="4977720"/>
            <a:ext cx="106747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All materials, announcements, and resources are shared on </a:t>
            </a: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Roboto Bold"/>
                <a:ea typeface="Roboto Bold"/>
              </a:rPr>
              <a:t>MS Teams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Shape 0"/>
          <p:cNvSpPr/>
          <p:nvPr/>
        </p:nvSpPr>
        <p:spPr>
          <a:xfrm>
            <a:off x="5233320" y="2952360"/>
            <a:ext cx="795600" cy="286920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346720" y="3008880"/>
            <a:ext cx="1178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COUR</a:t>
            </a:r>
            <a:r>
              <a:rPr lang="en-US" sz="11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233320" y="3314880"/>
            <a:ext cx="6296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C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n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t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n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t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s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661320" y="81468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S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i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x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 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M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d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u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l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s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661320" y="178344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01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661320" y="207936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661320" y="22244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Foundations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661320" y="263340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Linear algebra, vectors, matrices, and graphs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6190200" y="178344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02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6190200" y="207936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6190200" y="22244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Distributed Frameworks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6190200" y="263340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MapReduce and Apache Spark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661320" y="32662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03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661320" y="354348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661320" y="37076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Similarity &amp; Hashing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661320" y="411624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Finding similar objects at scale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6190200" y="32662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04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6190200" y="354348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6190200" y="370764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Dimensionality Reduction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6190200" y="411624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Handling thousands of features </a:t>
            </a: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efficiently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661320" y="47494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05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661320" y="500724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661320" y="519048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Graph Analytics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661320" y="559908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PageRank, recommendations, community detection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6190200" y="4749480"/>
            <a:ext cx="3776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 Slab Light"/>
                <a:ea typeface="Roboto Slab Light"/>
              </a:rPr>
              <a:t>06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6190200" y="5007240"/>
            <a:ext cx="5339520" cy="25200"/>
          </a:xfrm>
          <a:prstGeom prst="rect">
            <a:avLst/>
          </a:prstGeom>
          <a:solidFill>
            <a:srgbClr val="599C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3"/>
          <p:cNvSpPr/>
          <p:nvPr/>
        </p:nvSpPr>
        <p:spPr>
          <a:xfrm>
            <a:off x="6190200" y="5190480"/>
            <a:ext cx="5339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Str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ea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ms 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&amp; 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Sc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6190200" y="5599080"/>
            <a:ext cx="5339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Real-time data, large-scale ML, and project presentations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661320" y="228672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Learning Outcomes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6120" y="3229920"/>
            <a:ext cx="3490560" cy="13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"/>
          <p:cNvSpPr/>
          <p:nvPr/>
        </p:nvSpPr>
        <p:spPr>
          <a:xfrm>
            <a:off x="901440" y="3255480"/>
            <a:ext cx="322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Understand &amp; Analyze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901440" y="3664080"/>
            <a:ext cx="32252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Understand and analyze big data processing frameworks at depth.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37640" y="3229920"/>
            <a:ext cx="3490560" cy="13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3"/>
          <p:cNvSpPr/>
          <p:nvPr/>
        </p:nvSpPr>
        <p:spPr>
          <a:xfrm>
            <a:off x="4602960" y="3255480"/>
            <a:ext cx="322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Apply at Scale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4602960" y="3664080"/>
            <a:ext cx="32252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Apply algorithms for </a:t>
            </a: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large-scale data mining </a:t>
            </a: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and machine learning.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39520" y="3229920"/>
            <a:ext cx="3490560" cy="13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5"/>
          <p:cNvSpPr/>
          <p:nvPr/>
        </p:nvSpPr>
        <p:spPr>
          <a:xfrm>
            <a:off x="8304480" y="3255480"/>
            <a:ext cx="3225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De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sig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n &amp; 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Ev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alu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8304480" y="3664080"/>
            <a:ext cx="322524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Design, implement, and evaluate a research-oriented big-data solution end-to-end.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5233320" y="574200"/>
            <a:ext cx="629640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Your Team Research Project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5233320" y="1359720"/>
            <a:ext cx="6296400" cy="4923360"/>
          </a:xfrm>
          <a:prstGeom prst="roundRect">
            <a:avLst>
              <a:gd name="adj" fmla="val 531"/>
            </a:avLst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5233320" y="1359720"/>
            <a:ext cx="6296400" cy="984240"/>
          </a:xfrm>
          <a:custGeom>
            <a:avLst/>
            <a:gdLst>
              <a:gd name="textAreaLeft" fmla="*/ 0 w 6296400"/>
              <a:gd name="textAreaRight" fmla="*/ 6296760 w 6296400"/>
              <a:gd name="textAreaTop" fmla="*/ 0 h 984240"/>
              <a:gd name="textAreaBottom" fmla="*/ 984600 h 984240"/>
            </a:gdLst>
            <a:ahLst/>
            <a:cxnLst/>
            <a:rect l="textAreaLeft" t="textAreaTop" r="textAreaRight" b="textAreaBottom"/>
            <a:pathLst>
              <a:path w="6296860" h="984746">
                <a:moveTo>
                  <a:pt x="21781" y="0"/>
                </a:moveTo>
                <a:lnTo>
                  <a:pt x="6275078" y="0"/>
                </a:lnTo>
                <a:arcTo wR="21781" hR="21782" stAng="16200000" swAng="5400000"/>
                <a:lnTo>
                  <a:pt x="6296860" y="984746"/>
                </a:lnTo>
                <a:lnTo>
                  <a:pt x="0" y="984746"/>
                </a:lnTo>
                <a:lnTo>
                  <a:pt x="0" y="21782"/>
                </a:lnTo>
                <a:arcTo wR="21781" hR="21782" stAng="10800000" swAng="5400000"/>
                <a:close/>
              </a:path>
            </a:pathLst>
          </a:cu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5407560" y="1533960"/>
            <a:ext cx="5947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Team of 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5407560" y="1902600"/>
            <a:ext cx="5947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Each member owns one distinct subproblem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5233320" y="2344680"/>
            <a:ext cx="6296400" cy="984240"/>
          </a:xfrm>
          <a:prstGeom prst="rect">
            <a:avLst/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5233320" y="2344680"/>
            <a:ext cx="6296400" cy="1872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5407560" y="2518920"/>
            <a:ext cx="5947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Real-World Dataset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5407560" y="2887200"/>
            <a:ext cx="5947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Millions of records tackling a genuine problem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5233320" y="3329280"/>
            <a:ext cx="6296400" cy="984240"/>
          </a:xfrm>
          <a:prstGeom prst="rect">
            <a:avLst/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5233320" y="3329280"/>
            <a:ext cx="6296400" cy="1872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5407560" y="3503520"/>
            <a:ext cx="5947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Research Arc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5407560" y="3872160"/>
            <a:ext cx="5947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Problem → Literature → Baselines → Method → Experiments → Results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5233320" y="4313880"/>
            <a:ext cx="6296400" cy="984240"/>
          </a:xfrm>
          <a:prstGeom prst="rect">
            <a:avLst/>
          </a:pr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5233320" y="4313880"/>
            <a:ext cx="6296400" cy="1872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5407560" y="4488120"/>
            <a:ext cx="5947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Milestone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5407560" y="4856760"/>
            <a:ext cx="5947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Baselines running by mid-semester break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5233320" y="5298840"/>
            <a:ext cx="6296400" cy="984240"/>
          </a:xfrm>
          <a:custGeom>
            <a:avLst/>
            <a:gdLst>
              <a:gd name="textAreaLeft" fmla="*/ 0 w 6296400"/>
              <a:gd name="textAreaRight" fmla="*/ 6296760 w 6296400"/>
              <a:gd name="textAreaTop" fmla="*/ 0 h 984240"/>
              <a:gd name="textAreaBottom" fmla="*/ 984600 h 984240"/>
            </a:gdLst>
            <a:ahLst/>
            <a:cxnLst/>
            <a:rect l="textAreaLeft" t="textAreaTop" r="textAreaRight" b="textAreaBottom"/>
            <a:pathLst>
              <a:path w="6296860" h="984746">
                <a:moveTo>
                  <a:pt x="0" y="0"/>
                </a:moveTo>
                <a:lnTo>
                  <a:pt x="6296860" y="0"/>
                </a:lnTo>
                <a:lnTo>
                  <a:pt x="6296860" y="962964"/>
                </a:lnTo>
                <a:arcTo wR="21781" hR="21782" stAng="0" swAng="5400000"/>
                <a:lnTo>
                  <a:pt x="21781" y="984746"/>
                </a:lnTo>
                <a:arcTo wR="21781" hR="21782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5233320" y="5298840"/>
            <a:ext cx="6296400" cy="1872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5407560" y="5473080"/>
            <a:ext cx="594792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Final Presentation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5407560" y="5841360"/>
            <a:ext cx="5947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Improvement from your solution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661320" y="192096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76B9FF"/>
                </a:solidFill>
                <a:effectLst/>
                <a:uFillTx/>
                <a:latin typeface="Roboto Slab"/>
                <a:ea typeface="Roboto Slab"/>
              </a:rPr>
              <a:t>How You'll Be Assessed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661320" y="2889720"/>
            <a:ext cx="2575080" cy="2046960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25399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875880" y="3104280"/>
            <a:ext cx="21463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Assignments &amp; Quizzes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75880" y="3808080"/>
            <a:ext cx="21463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5 quizzes + 2 retake quizzes; demos required for all submissions.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3425760" y="2889720"/>
            <a:ext cx="2575080" cy="2046960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25399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3640320" y="3104280"/>
            <a:ext cx="2146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Late Work Policy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3640320" y="3512880"/>
            <a:ext cx="214632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A grace period may apply, but late submissions may not be accepted after the deadline.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6190200" y="2889720"/>
            <a:ext cx="2575080" cy="2046960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25399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6404760" y="3104280"/>
            <a:ext cx="2146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c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d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m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ic 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H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o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n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e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st</a:t>
            </a: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404760" y="3512880"/>
            <a:ext cx="214632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Violations result in immediate assessment cancellation — no exceptions.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8954640" y="2889720"/>
            <a:ext cx="2575080" cy="2046960"/>
          </a:xfrm>
          <a:prstGeom prst="roundRect">
            <a:avLst>
              <a:gd name="adj" fmla="val 1385"/>
            </a:avLst>
          </a:prstGeom>
          <a:solidFill>
            <a:srgbClr val="202733"/>
          </a:solidFill>
          <a:ln w="25399">
            <a:solidFill>
              <a:srgbClr val="585F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9169200" y="3104280"/>
            <a:ext cx="2146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D6E5EF"/>
                </a:solidFill>
                <a:effectLst/>
                <a:uFillTx/>
                <a:latin typeface="Roboto Slab"/>
                <a:ea typeface="Roboto Slab"/>
              </a:rPr>
              <a:t>Attendance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9169200" y="3512880"/>
            <a:ext cx="214632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D6E5EF"/>
                </a:solidFill>
                <a:effectLst/>
                <a:uFillTx/>
                <a:latin typeface="Roboto"/>
                <a:ea typeface="Roboto"/>
              </a:rPr>
              <a:t>University policy requires 100% attendance throughout the semester.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"/>
          <p:cNvPicPr/>
          <p:nvPr/>
        </p:nvPicPr>
        <p:blipFill>
          <a:blip r:embed="rId1"/>
          <a:stretch/>
        </p:blipFill>
        <p:spPr>
          <a:xfrm>
            <a:off x="457200" y="2234880"/>
            <a:ext cx="11140920" cy="32914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"/>
          <p:cNvPicPr/>
          <p:nvPr/>
        </p:nvPicPr>
        <p:blipFill>
          <a:blip r:embed="rId1"/>
          <a:stretch/>
        </p:blipFill>
        <p:spPr>
          <a:xfrm>
            <a:off x="914400" y="1714680"/>
            <a:ext cx="10416960" cy="40003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2026-08-31T10:36:43Z</dcterms:created>
  <dc:creator/>
  <dc:description/>
  <dc:language>en-US</dc:language>
  <cp:lastModifiedBy/>
  <dcterms:modified xsi:type="dcterms:W3CDTF">2026-08-31T07:24:36Z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